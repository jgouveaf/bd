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F2FF"/>
                </a:solidFill>
              </a:rPr>
              <a:t>A CIÊNCIA DA TESOURA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João Gouvêa / 1F</a:t>
            </a:r>
          </a:p>
          <a:p/>
          <a:p>
            <a:r>
              <a:rPr>
                <a:solidFill>
                  <a:srgbClr val="E0E0E0"/>
                </a:solidFill>
              </a:rPr>
              <a:t>Análise Técnica e Evolução Histórica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C00FF"/>
                </a:solidFill>
              </a:rPr>
              <a:t>1. 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A tesoura representa um marco na engenharia de ferramentas.</a:t>
            </a:r>
          </a:p>
          <a:p>
            <a:r>
              <a:rPr>
                <a:solidFill>
                  <a:srgbClr val="E0E0E0"/>
                </a:solidFill>
              </a:rPr>
              <a:t>Combinação milenar de física aplicada e design funcional.</a:t>
            </a:r>
          </a:p>
          <a:p>
            <a:r>
              <a:rPr>
                <a:solidFill>
                  <a:srgbClr val="E0E0E0"/>
                </a:solidFill>
              </a:rPr>
              <a:t>Evolução: Do bronze rudimentar à precisão industrial.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C00FF"/>
                </a:solidFill>
              </a:rPr>
              <a:t>2. CONTEXTO HISTÓRICO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Marcos Fundamentais:</a:t>
            </a:r>
          </a:p>
          <a:p>
            <a:r>
              <a:rPr>
                <a:solidFill>
                  <a:srgbClr val="E0E0E0"/>
                </a:solidFill>
              </a:rPr>
              <a:t>• Mesopotâmia (~3.000 a.C.): Dispositivos de bronze de peça única.</a:t>
            </a:r>
          </a:p>
          <a:p>
            <a:r>
              <a:rPr>
                <a:solidFill>
                  <a:srgbClr val="E0E0E0"/>
                </a:solidFill>
              </a:rPr>
              <a:t>• Roma: Introdução do design em 'X' com pivô central.</a:t>
            </a:r>
          </a:p>
          <a:p>
            <a:r>
              <a:rPr>
                <a:solidFill>
                  <a:srgbClr val="E0E0E0"/>
                </a:solidFill>
              </a:rPr>
              <a:t>• 1761: Robert Hinchliffe inicia a produção em aço fundido.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2FF"/>
                </a:solidFill>
              </a:rPr>
              <a:t>3. MECÂNICA: ALAVANCA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O Princípio da Alavanca Interfixa (1ª Classe):</a:t>
            </a:r>
          </a:p>
          <a:p>
            <a:r>
              <a:rPr>
                <a:solidFill>
                  <a:srgbClr val="E0E0E0"/>
                </a:solidFill>
              </a:rPr>
              <a:t>• Pivô posicionado estrategicamente entre a força e a carga.</a:t>
            </a:r>
          </a:p>
          <a:p>
            <a:r>
              <a:rPr>
                <a:solidFill>
                  <a:srgbClr val="E0E0E0"/>
                </a:solidFill>
              </a:rPr>
              <a:t>• Maximização da vantagem mecânica conforme a proximidade do eixo.</a:t>
            </a:r>
          </a:p>
          <a:p>
            <a:r>
              <a:rPr>
                <a:solidFill>
                  <a:srgbClr val="E0E0E0"/>
                </a:solidFill>
              </a:rPr>
              <a:t>• Redução do esforço manual para corte de materiais densos.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2FF"/>
                </a:solidFill>
              </a:rPr>
              <a:t>4. FÍSICA: CISALHAMENTO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Dinâmica de Corte:</a:t>
            </a:r>
          </a:p>
          <a:p>
            <a:r>
              <a:rPr>
                <a:solidFill>
                  <a:srgbClr val="E0E0E0"/>
                </a:solidFill>
              </a:rPr>
              <a:t>• Tensão gerada pelo deslizamento de lâminas em planos opostos.</a:t>
            </a:r>
          </a:p>
          <a:p>
            <a:r>
              <a:rPr>
                <a:solidFill>
                  <a:srgbClr val="E0E0E0"/>
                </a:solidFill>
              </a:rPr>
              <a:t>• Superação da resistência mecânica do material alvo.</a:t>
            </a:r>
          </a:p>
          <a:p>
            <a:r>
              <a:rPr>
                <a:solidFill>
                  <a:srgbClr val="E0E0E0"/>
                </a:solidFill>
              </a:rPr>
              <a:t>• Precisão controlada pela geometria das faces de corte.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C00FF"/>
                </a:solidFill>
              </a:rPr>
              <a:t>5. TIPOLOGIAS TÉCNICAS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solidFill>
                  <a:srgbClr val="E0E0E0"/>
                </a:solidFill>
              </a:rPr>
              <a:t>• Educacional: Geometria de segurança e controle básico.</a:t>
            </a:r>
          </a:p>
          <a:p>
            <a:r>
              <a:rPr>
                <a:solidFill>
                  <a:srgbClr val="E0E0E0"/>
                </a:solidFill>
              </a:rPr>
              <a:t>• Têxtil: Ângulos de ataque otimizados para fibras flexíveis.</a:t>
            </a:r>
          </a:p>
          <a:p>
            <a:r>
              <a:rPr>
                <a:solidFill>
                  <a:srgbClr val="E0E0E0"/>
                </a:solidFill>
              </a:rPr>
              <a:t>• Cirúrgica: Precisão milimétrica em ligas inoxidáveis especiais.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C00FF"/>
                </a:solidFill>
              </a:rPr>
              <a:t>6. ERGONOMIA E AJUSTE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>
                <a:solidFill>
                  <a:srgbClr val="E0E0E0"/>
                </a:solidFill>
              </a:rPr>
              <a:t>• Lateralidade: Inversão simétrica para operadores canhotos.</a:t>
            </a:r>
          </a:p>
          <a:p>
            <a:r>
              <a:rPr>
                <a:solidFill>
                  <a:srgbClr val="E0E0E0"/>
                </a:solidFill>
              </a:rPr>
              <a:t>• Calibração: Ajuste de torque no parafuso de união central.</a:t>
            </a:r>
          </a:p>
          <a:p>
            <a:r>
              <a:rPr>
                <a:solidFill>
                  <a:srgbClr val="E0E0E0"/>
                </a:solidFill>
              </a:rPr>
              <a:t>• Manutenção: Preservação do fio através de afiação técnica.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F2FF"/>
                </a:solidFill>
              </a:rPr>
              <a:t>SÍNTESE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E0E0E0"/>
                </a:solidFill>
              </a:rPr>
              <a:t>A tesoura é a fusão perfeita entre utilidade e engenharia.</a:t>
            </a:r>
          </a:p>
          <a:p>
            <a:r>
              <a:rPr>
                <a:solidFill>
                  <a:srgbClr val="E0E0E0"/>
                </a:solidFill>
              </a:rPr>
              <a:t>Um design que resistiu a milênios sem perder sua eficácia.</a:t>
            </a:r>
          </a:p>
          <a:p>
            <a:r>
              <a:rPr>
                <a:solidFill>
                  <a:srgbClr val="E0E0E0"/>
                </a:solidFill>
              </a:rPr>
              <a:t>Genialidade na simplicidade mecânica.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